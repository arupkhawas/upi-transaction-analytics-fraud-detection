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232F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  <c:pt idx="4">
                  <c:v>West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382</c:v>
                </c:pt>
                <c:pt idx="1">
                  <c:v>393</c:v>
                </c:pt>
                <c:pt idx="2">
                  <c:v>402</c:v>
                </c:pt>
                <c:pt idx="3">
                  <c:v>404</c:v>
                </c:pt>
                <c:pt idx="4">
                  <c:v>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06-5F40-9FA1-E8DBF3EFE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94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351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UPI TRANSACTION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0" y="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AACB"/>
                </a:solidFill>
              </a:rPr>
              <a:t>Prepared by: Arup Ranjan</a:t>
            </a:r>
            <a:endParaRPr lang="en-US" sz="8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8AAACB"/>
                </a:solidFill>
              </a:rPr>
              <a:t>2025 Capstone Project  |  SQL Server · Python · Power BI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749808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8046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TRANSACTIONS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5661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A4"/>
                </a:solidFill>
              </a:rPr>
              <a:t>100K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84248" y="74980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749808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8046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REVENUE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12264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A4"/>
                </a:solidFill>
              </a:rPr>
              <a:t>₹4.24M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9896" y="74980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749808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8046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SUCCESS RATE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67912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</a:rPr>
              <a:t>92.14%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95544" y="74980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749808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8046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FRAUD RATE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23560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</a:rPr>
              <a:t>2.00%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51192" y="74980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749808"/>
            <a:ext cx="16002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804672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FAILURE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379208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</a:rPr>
              <a:t>5.87%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</a:rPr>
              <a:t>Top 5 Business Insights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28600" y="1920240"/>
            <a:ext cx="8686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" y="2039112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" y="197510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F3E"/>
                </a:solidFill>
              </a:rPr>
              <a:t>Platform growing exponentially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4088" y="216712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</a:rPr>
              <a:t>UPI transactions grew 10x between 2020–2025, generating ₹4.24M revenue. Peak month: July 2025 with 17,000+ transactions.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72400" y="2084832"/>
            <a:ext cx="1005840" cy="219456"/>
          </a:xfrm>
          <a:prstGeom prst="roundRect">
            <a:avLst>
              <a:gd name="adj" fmla="val 16666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084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POSITIVE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28600" y="2528316"/>
            <a:ext cx="8686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" y="2647188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26471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" y="258318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F3E"/>
                </a:solidFill>
              </a:rPr>
              <a:t>Rooted devices are a critical fraud risk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4088" y="27752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</a:rPr>
              <a:t>Rooted devices show 20.69% fraud rate vs 1.39% for normal devices — 15x higher risk. Chi-square p=0.0000 (significant). Only 3.1% of devices are rooted but account for 32.8% of all fraud.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772400" y="2692908"/>
            <a:ext cx="1005840" cy="219456"/>
          </a:xfrm>
          <a:prstGeom prst="roundRect">
            <a:avLst>
              <a:gd name="adj" fmla="val 166667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26929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62828"/>
                </a:solidFill>
              </a:rPr>
              <a:t>CRITICAL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28600" y="3136392"/>
            <a:ext cx="8686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" y="3255264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4088" y="31912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F3E"/>
                </a:solidFill>
              </a:rPr>
              <a:t>Overall platform health is strong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4088" y="33832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</a:rPr>
              <a:t>92.14% success rate with only 2% fraud rate. 87.6% of fraud alerts resolved. All 3 channels (app, intent, QR code) perform equally — no single channel is riskier.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772400" y="3300984"/>
            <a:ext cx="1005840" cy="219456"/>
          </a:xfrm>
          <a:prstGeom prst="roundRect">
            <a:avLst>
              <a:gd name="adj" fmla="val 16666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0" y="3300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POSITIVE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28600" y="3744468"/>
            <a:ext cx="8686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1752" y="3863340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38633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4088" y="37993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F3E"/>
                </a:solidFill>
              </a:rPr>
              <a:t>Transaction issues are #1 customer complaint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4088" y="39913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</a:rPr>
              <a:t>2,025 of 4,000 feedback records (50.6%) report transaction issues. Avg satisfaction: 3.61/5. Failure rate of 5.87% = 5,871 failed transactions directly driving negative feedback.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772400" y="3909060"/>
            <a:ext cx="1005840" cy="219456"/>
          </a:xfrm>
          <a:prstGeom prst="roundRect">
            <a:avLst>
              <a:gd name="adj" fmla="val 166667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39090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5100"/>
                </a:solidFill>
              </a:rPr>
              <a:t>NEEDS ATTENTION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8600" y="4352544"/>
            <a:ext cx="868680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" y="4471416"/>
            <a:ext cx="310896" cy="310896"/>
          </a:xfrm>
          <a:prstGeom prst="roundRect">
            <a:avLst>
              <a:gd name="adj" fmla="val 147059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32F3E"/>
                </a:solidFill>
              </a:rPr>
              <a:t>05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04088" y="44074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32F3E"/>
                </a:solidFill>
              </a:rPr>
              <a:t>Risk score not predicting fraud accurately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04088" y="45994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8909C"/>
                </a:solidFill>
              </a:rPr>
              <a:t>Fraud and non-fraud customers have nearly identical avg risk scores (0.201 vs 0.203). Pearson correlation p=0.6123 — NOT significant. Current risk model needs recalibration.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772400" y="4517136"/>
            <a:ext cx="1005840" cy="219456"/>
          </a:xfrm>
          <a:prstGeom prst="roundRect">
            <a:avLst>
              <a:gd name="adj" fmla="val 166667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0" y="4517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838F"/>
                </a:solidFill>
              </a:rPr>
              <a:t>NEEDS FIX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UPI Transaction Analysis  —  Confidential  —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16352" cy="1389888"/>
          </a:xfrm>
          <a:prstGeom prst="roundRect">
            <a:avLst>
              <a:gd name="adj" fmla="val 7895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81635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87752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0D0D0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6616" y="841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Block rooted-device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" y="1261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ACTION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56616" y="1399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Deploy real-time rooted device detection and enforce secondary authentication for flagged devices.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" y="17007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62828"/>
                </a:solidFill>
              </a:rPr>
              <a:t>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6616" y="1837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Targets 32.8% of fraud. Estimated savings: ₹27,800 (32.8% of ₹84,710 total fraud amount).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63824" y="749808"/>
            <a:ext cx="2816352" cy="1389888"/>
          </a:xfrm>
          <a:prstGeom prst="roundRect">
            <a:avLst>
              <a:gd name="adj" fmla="val 789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822960"/>
            <a:ext cx="281635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0D0D0"/>
                </a:solidFill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841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Investigate &amp; fix transaction failures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261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ACTION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399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Improve payment gateway reliability and add intelligent retry mechanisms for failed payments.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91840" y="17007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65100"/>
                </a:solidFill>
              </a:rPr>
              <a:t>IMPACT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91840" y="1837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Reducing failure rate from 5.87% → 3% recovers ~2,870 transactions ≈ ₹1,21,700 in revenue.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99048" y="749808"/>
            <a:ext cx="2816352" cy="1389888"/>
          </a:xfrm>
          <a:prstGeom prst="roundRect">
            <a:avLst>
              <a:gd name="adj" fmla="val 7895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822960"/>
            <a:ext cx="2816352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0D0D0"/>
                </a:solidFill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27064" y="8412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Recalibrate the risk scoring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7064" y="12618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8909C"/>
                </a:solidFill>
              </a:rPr>
              <a:t>ACTION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27064" y="1399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Incorporate device rooting status, transaction frequency, geo-location and time-of-day signals.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27064" y="170078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D6FA4"/>
                </a:solidFill>
              </a:rPr>
              <a:t>IMPACT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27064" y="1837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Improves fraud prediction accuracy, enables earlier detection and reduces financial losses.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286000"/>
            <a:ext cx="281635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395728"/>
            <a:ext cx="45720" cy="256032"/>
          </a:xfrm>
          <a:prstGeom prst="roundRect">
            <a:avLst>
              <a:gd name="adj" fmla="val 800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Summary Scorecard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" y="2670048"/>
            <a:ext cx="2706624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67004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Transactions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65960" y="267004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100K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267004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3464" y="2935224"/>
            <a:ext cx="2706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293522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Revenue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65960" y="293522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₹4.24M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0" y="293522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" y="3200400"/>
            <a:ext cx="2706624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320040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Success Rate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65960" y="32004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92.14%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0" y="320040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3464" y="3465576"/>
            <a:ext cx="2706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346557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Failure Rate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965960" y="346557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5.87%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0" y="3465576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</a:rPr>
              <a:t>⚠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464" y="3730752"/>
            <a:ext cx="2706624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" y="37307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Fraud Rate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965960" y="373075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2.00%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43200" y="3730752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</a:rPr>
              <a:t>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83464" y="3995928"/>
            <a:ext cx="2706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" y="39959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Rooted Device Fraud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965960" y="3995928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20.69%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0" y="3995928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</a:rPr>
              <a:t>!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3464" y="4261104"/>
            <a:ext cx="2706624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426110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Alert Resolution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4261104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87.60%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743200" y="4261104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✓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83464" y="4526280"/>
            <a:ext cx="2706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" y="45262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32F3E"/>
                </a:solidFill>
              </a:rPr>
              <a:t>Avg Satisfaction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965960" y="452628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32F3E"/>
                </a:solidFill>
              </a:rPr>
              <a:t>3.61/5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43200" y="452628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</a:rPr>
              <a:t>⚠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163824" y="2286000"/>
            <a:ext cx="281635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9544" y="2395728"/>
            <a:ext cx="45720" cy="256032"/>
          </a:xfrm>
          <a:prstGeom prst="roundRect">
            <a:avLst>
              <a:gd name="adj" fmla="val 80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00984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Fraud Transactions by Region</a:t>
            </a:r>
            <a:endParaRPr lang="en-US" sz="1100" dirty="0"/>
          </a:p>
        </p:txBody>
      </p:sp>
      <p:graphicFrame>
        <p:nvGraphicFramePr>
          <p:cNvPr id="66" name="Chart 0"/>
          <p:cNvGraphicFramePr/>
          <p:nvPr/>
        </p:nvGraphicFramePr>
        <p:xfrm>
          <a:off x="3236976" y="2633472"/>
          <a:ext cx="2688336" cy="2130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" name="Shape 64"/>
          <p:cNvSpPr/>
          <p:nvPr/>
        </p:nvSpPr>
        <p:spPr>
          <a:xfrm>
            <a:off x="6099048" y="2286000"/>
            <a:ext cx="2816352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144768" y="2395728"/>
            <a:ext cx="45720" cy="256032"/>
          </a:xfrm>
          <a:prstGeom prst="roundRect">
            <a:avLst>
              <a:gd name="adj" fmla="val 80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236208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F3E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6236208" y="2651760"/>
            <a:ext cx="2596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The UPI platform demonstrates strong growth with a 92.1% success rate and ₹4.24M in revenue across 100,000 transactions (2020–2025).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Three critical areas need immediate action: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• Rooted device security — 15x higher fraud risk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• Transaction failure reduction — 5.87% failure rate driving customer complaints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• Risk model improvement — current model unable to distinguish fraud customers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32F3E"/>
                </a:solidFill>
              </a:rPr>
              <a:t>Addressing these will significantly improve platform security, customer satisfaction and long-term business performance.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7D8B"/>
                </a:solidFill>
              </a:rPr>
              <a:t>Tools Used: SQL Server  |  Python  |  Power BI  |  SciPy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503</Words>
  <Application>Microsoft Macintosh PowerPoint</Application>
  <PresentationFormat>On-screen Show (16:9)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Transaction Analysis - Executive Report</dc:title>
  <dc:subject>PptxGenJS Presentation</dc:subject>
  <dc:creator>PptxGenJS</dc:creator>
  <cp:lastModifiedBy>Arup Ranjan</cp:lastModifiedBy>
  <cp:revision>2</cp:revision>
  <dcterms:created xsi:type="dcterms:W3CDTF">2026-05-27T06:44:10Z</dcterms:created>
  <dcterms:modified xsi:type="dcterms:W3CDTF">2026-05-27T06:47:23Z</dcterms:modified>
</cp:coreProperties>
</file>